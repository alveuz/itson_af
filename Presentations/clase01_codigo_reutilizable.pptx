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DM Sans Medium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Medium-bold.fntdata"/><Relationship Id="rId30" Type="http://schemas.openxmlformats.org/officeDocument/2006/relationships/font" Target="fonts/DMSa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DMSa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Medium-italic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7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42b59a8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542b59a8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542b59a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542b59a8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542b59a8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542b59a8c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542b59a8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542b59a8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542b59a8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542b59a8c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542b59a8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542b59a8c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Relationship Id="rId7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13.png"/><Relationship Id="rId5" Type="http://schemas.openxmlformats.org/officeDocument/2006/relationships/image" Target="../media/image49.png"/><Relationship Id="rId6" Type="http://schemas.openxmlformats.org/officeDocument/2006/relationships/image" Target="../media/image48.png"/><Relationship Id="rId7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00" y="1620405"/>
            <a:ext cx="116016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Modulo 1</a:t>
            </a:r>
            <a:endParaRPr b="1" sz="430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Buenas prácticas en el desarrollo de modelos</a:t>
            </a:r>
            <a:endParaRPr sz="100"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65194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Ingeniería Reproducible para Modelos Eléctricos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38337"/>
            <a:ext cx="5286375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86375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Fin del "modelo_final_v3.ipynb"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62025" y="232886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Caos en Operación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724650" y="232886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 Git (Ingeniería)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33475" y="2833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200150" y="2833687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Archivos duplicados: demanda_norte.py, demanda_norte_final.py, demanda_ESTE_SI.ipynb.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33475" y="3890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00150" y="389096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Miedo a borrar el código que limpiaba bien el Horario de Verano (DST) porque funcionaba ayer.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33475" y="4948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00150" y="4948237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Imposible saber qué ingeniero introdujo un sesgo (leakage) al modelo de generación solar.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96100" y="2833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62775" y="2833687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 solo archivo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demanda_norte.py con todo su historial.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96100" y="3586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62775" y="358616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Fotografías de código (commits) que documentan: "Se agregó temperatura y humedad al modelo XGBoost".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96100" y="4643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62775" y="4643437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Experimentación aislada (ramas) para probar si incluir irradiación solar mejora el modelo sin romper producción.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62187"/>
            <a:ext cx="3429000" cy="3505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262187"/>
            <a:ext cx="3429000" cy="3505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262187"/>
            <a:ext cx="3429000" cy="350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Ecosistema de Control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520904" y="3509962"/>
            <a:ext cx="15301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Git (Local)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4014787"/>
            <a:ext cx="28575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El motor. Software instalado en tu computadora que rastrea el historial de tus notebooks, scripts de Python y datos de configuración meteorológica.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040868" y="3509962"/>
            <a:ext cx="211026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(Nube)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67250" y="4014787"/>
            <a:ext cx="28575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La plataforma donde se almacena el historial central. Permite que el equipo de pronóstico térmico y el de renovables colaboren en el mismo repositorio.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765857" y="3509962"/>
            <a:ext cx="22802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SSH (El Puente)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77250" y="4014787"/>
            <a:ext cx="2857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Protocolo criptográfico que permite a tu terminal local empujar (push) tu código a GitHub de forma segura y sin teclear contraseñas.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85962" y="27003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700337"/>
            <a:ext cx="4572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7875" y="2700337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Flujo de Trabajo Local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1097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Comprender cómo se mueve la información en Git: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42950" y="2557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25574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Working Directory: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Tu VS Code. Aquí rompes y arreglas el script limpieza_clima.py.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42950" y="3309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309937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Staging Area: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Zona de preparación (git add). Solo subes los archivos listos. Quizás preparas limpieza_clima.py pero dejas fuera tus experimentos sueltos.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42950" y="4672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6720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Local Repository: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historial (git commit). Se guarda la "fotografía" permanente en tu base de datos local.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175" y="2128837"/>
            <a:ext cx="52482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295275" y="2686942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Autenticación con SSH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619750" y="326796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60134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Conectando tu terminal a la nube de forma segura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67062"/>
            <a:ext cx="5286375" cy="2087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Paso 1: Generar la Llave SSH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21097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Abre tu terminal y genera tus credenciales.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Nota: Si nombraste a tu llave como "ghkey" en lugar del nombre por defecto, úsalo en el comando `ssh-add`.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09625" y="3376612"/>
            <a:ext cx="36581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Genera un par de llaves criptográficas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09625" y="3589883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9625" y="4016424"/>
            <a:ext cx="32009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Inicia el agente en segundo plano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09625" y="4229695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09625" y="4656236"/>
            <a:ext cx="26522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Agrega tu llave (ej. ghkey)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09625" y="4869507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128837"/>
            <a:ext cx="52482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Paso 2: Vincular con GitHub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571625" y="2776537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Copia tu llave pública: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Ejecuta en terminal cat ~/.ssh/ghkey.pub. Copia todo el texto resultante.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571625" y="3319462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Configura en GitHub: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Ve a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Settings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&gt;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SSH and GPG keys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y haz clic en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New SSH key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571625" y="3862387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Pega y Guarda: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Pega el texto en el campo 'Key'.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571625" y="4405312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Verifica la conexión: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Ejecuta ssh -T git@github.com. Si responde "Hi username! You've successfully authenticated...",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¡estás listo!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(Es normal que avise que "no provee acceso shell").</a:t>
            </a:r>
            <a:endParaRPr/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" y="27908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375" y="3333750"/>
            <a:ext cx="2571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387667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4419600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295275" y="2686942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Creación de Repositorios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619750" y="326796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60134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Estructurando el proyecto de pronóstico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14500"/>
            <a:ext cx="52863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4500"/>
            <a:ext cx="52863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54292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Estrategias de Inicialización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962025" y="2105025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Vía 1: Git Init (De Local a Nube)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962025" y="260985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Usado cuando ya tienes tu pipeline de datos eléctricos en tu computadora y quieres subirlo a GitHub.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24650" y="2105025"/>
            <a:ext cx="473059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Vía 2: Git Clone (De Nube a Local) ⭐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24650" y="29718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camino más recomendado.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Creas el proyecto en GitHub primero y lo descargas pre-configurado.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133475" y="3667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200150" y="36671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Requiere inicializar con git init.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133475" y="4114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200150" y="4114800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Debes crear manualmente un archivo .gitignore para evitar subir archivos pesados (.csv de clima).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133475" y="5172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200150" y="51720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Debes enlazar manualmente el repositorio remoto.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896100" y="3724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962775" y="37242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GitHub te genera automáticamente el README.md.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896100" y="4476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962775" y="44767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Puedes decirle a GitHub que añada un .gitignore específico para Python.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896100" y="5229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962775" y="52292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enlace remoto (origin) ya viene configurado.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Camino Recomendado (Clonar)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571625" y="2471737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Crear en Nube: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 GitHub haz clic en "New Repository". Nómbralo (ej.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pronostico-demanda-norte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571625" y="3014662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Opciones Iniciales: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Marca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"Add a README file"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Muy importante: en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"Add .gitignore"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selecciona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no subir archivos residuales de Colab o de datos pesados por error.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571625" y="3862387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Copiar URL SSH: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 tu nuevo repo, ve al botón verde "Code", pestaña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SSH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y copia el enlace (ej. git@github.com:user/repo.git).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571625" y="4710112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Clonar en Local: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Abre tu terminal y ejecuta: git clone git@github.com:... ¡Ya tienes un sistema bajo control!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" y="2486025"/>
            <a:ext cx="2571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375" y="30289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387667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472440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62262"/>
            <a:ext cx="5286375" cy="2940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Ciclo Diario del Ingeniero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21097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Comandos para guardar tu progreso en tu modelo o script de datos, contextualizado a un día de trabajo real: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09625" y="3071812"/>
            <a:ext cx="40240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1. ACTUALIZA (Trae cambios de tus colegas)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09625" y="3285083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809625" y="3711624"/>
            <a:ext cx="34752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2. PREPARA tus correcciones de datos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09625" y="3924895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09625" y="4351436"/>
            <a:ext cx="3292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3. FOTOGRAFÍA (Commit explicativo)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09625" y="4564707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809625" y="5204519"/>
            <a:ext cx="31094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4. SUBE a la nube para el equipo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09625" y="5417790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128837"/>
            <a:ext cx="52482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/>
        </p:nvSpPr>
        <p:spPr>
          <a:xfrm>
            <a:off x="295275" y="2686942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Ramas (Branches)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5619750" y="326796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360134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Laboratorios de experimentación seguros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¿Por qué usar Ramas?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571500" y="3076575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∞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571500" y="4600575"/>
            <a:ext cx="5286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Líneas de Tiempo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6334125" y="232886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Protegiendo la Operación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6334125" y="28336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 el sector eléctrico, la rama main es tu código en operación (el que predice la carga diaria del CENACE).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6334125" y="35861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 quieres probar meter la variable exógena de "humedad relativa" a un nuevo modelo MLForecast,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lo haces en main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6334125" y="46434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Creas una rama paralela. Si el modelo sobreajusta temporalmente o lanza errores físicos, tu código operativo `main` permanece 100% intacto y funcional.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Ciclo de las Ramas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571500" y="21097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ciclo de vida para probar nuevas features: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742950" y="2557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809625" y="25574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Branching: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Creas un clon a partir de un punto estable (ej. rama test-sarima).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742950" y="3309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809625" y="33099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Committing: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Trabajas de forma aislada, guardando tus métricas de backtesting sin afectar a nadie más.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742950" y="4062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809625" y="40624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Merging: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Cuando el SARIMA supera el baseline estadístico, "fusionas" (merge) esos avances de vuelta a la línea principal de producción.</a:t>
            </a:r>
            <a:endParaRPr/>
          </a:p>
        </p:txBody>
      </p:sp>
      <p:pic>
        <p:nvPicPr>
          <p:cNvPr descr="image.png" id="264" name="Google Shape;2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175" y="2128837"/>
            <a:ext cx="52482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25116"/>
            <a:ext cx="3429000" cy="3779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25116"/>
            <a:ext cx="3429000" cy="3779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125116"/>
            <a:ext cx="3429000" cy="377934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Operando con Ramas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1065847" y="3372891"/>
            <a:ext cx="244030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Crear &amp; Cambiar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1238250" y="3877716"/>
            <a:ext cx="20955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branch feat-clima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(Crea la rama)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switch feat-clima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(Te mueve a ella)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5110876" y="3372891"/>
            <a:ext cx="197024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Listar Ramas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4667250" y="3877716"/>
            <a:ext cx="28575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branch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Te muestra todas tus ramas. Un asterisco (*) indica en cuál contexto (laboratorio) te encuentras.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8620839" y="3372891"/>
            <a:ext cx="257032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Fusionar (Merge)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858250" y="3877716"/>
            <a:ext cx="20955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Muévete al destino: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switch main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Trae los cambios exitosos: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merge feat-clima</a:t>
            </a:r>
            <a:endParaRPr/>
          </a:p>
        </p:txBody>
      </p:sp>
      <p:pic>
        <p:nvPicPr>
          <p:cNvPr descr="image.png" id="279" name="Google Shape;27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6450" y="256326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75" y="256326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6450" y="2563266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571500" y="571500"/>
            <a:ext cx="555069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Escenario Real: Colaboración</a:t>
            </a:r>
            <a:endParaRPr/>
          </a:p>
        </p:txBody>
      </p:sp>
      <p:pic>
        <p:nvPicPr>
          <p:cNvPr descr="image.png" id="287" name="Google Shape;2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571500" y="2238375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Trabajo en Paralelo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571500" y="26955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Imagina un proyecto de despacho económico: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571500" y="314325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Tú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trabajas en la rama data-prep diseñando el pipeline de limpieza de datos meteorológicos (resampling, outliers).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Tu colega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trabaja en la rama modelo-solar desarrollando el modelo base con StatsForecast.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571500" y="48101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Ambos trabajan el mismo día sin sobreescribir el código del otro. Al finalizar, Git se encarga de integrar matemáticamente ambos módulos en `main`.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Convenciones Profesionales de Commits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095375" y="2047875"/>
            <a:ext cx="10001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 commit no es solo guardar, es explicar a tu "yo" del futuro (y a tu equipo)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qué y por qué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cambió.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1571625" y="259080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Corrige un error en el código.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Ej: fix: soluciona el cruce de timezone en el resampling horario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1571625" y="3438525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feat: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Añade una nueva característica o modelo.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Ej: feat: incorpora variables de humedad e irradiancia al pipeline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1571625" y="428625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docs: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Cambios en la documentación o docstrings.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Ej: docs: agrega descripción de columnas exógenas en el README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1571625" y="5133975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Añade o corrige pruebas (guardrails).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Ej: test: añade sanity checks para valores negativos de generación</a:t>
            </a:r>
            <a:endParaRPr/>
          </a:p>
        </p:txBody>
      </p:sp>
      <p:pic>
        <p:nvPicPr>
          <p:cNvPr descr="image.png"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" y="26050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375" y="34528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43005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514826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/>
        </p:nvSpPr>
        <p:spPr>
          <a:xfrm>
            <a:off x="295275" y="2686942"/>
            <a:ext cx="1160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Problemas: GitHub Issues</a:t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5619750" y="3267967"/>
            <a:ext cx="952500" cy="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571500" y="360134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La forma estructurada de reportar y solucionar errores en equipo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38325"/>
            <a:ext cx="5286375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38325"/>
            <a:ext cx="5286375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un Issue?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962025" y="2228850"/>
            <a:ext cx="47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Viejo Paradigma (El Caos)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962025" y="2733675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Enviar un mensaje de WhatsApp a las 11 PM diciendo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"no me corre el modelo"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"la tabla da error"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6724650" y="2228850"/>
            <a:ext cx="4730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Paradigma GitHub (Profesional)</a:t>
            </a:r>
            <a:endParaRPr/>
          </a:p>
        </p:txBody>
      </p:sp>
      <p:sp>
        <p:nvSpPr>
          <p:cNvPr id="323" name="Google Shape;323;p31"/>
          <p:cNvSpPr txBox="1"/>
          <p:nvPr/>
        </p:nvSpPr>
        <p:spPr>
          <a:xfrm>
            <a:off x="6724650" y="3095625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Issue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 un "ticket" público en tu repositorio para registrar fallos, proponer mejoras o planear tareas.</a:t>
            </a:r>
            <a:endParaRPr/>
          </a:p>
        </p:txBody>
      </p:sp>
      <p:sp>
        <p:nvSpPr>
          <p:cNvPr id="324" name="Google Shape;324;p31"/>
          <p:cNvSpPr txBox="1"/>
          <p:nvPr/>
        </p:nvSpPr>
        <p:spPr>
          <a:xfrm>
            <a:off x="1133475" y="37909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1200150" y="3790950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hay contexto del error ni datos provistos.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1133475" y="423862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1200150" y="4238625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se incluye el código que falló.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1133475" y="468630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1200150" y="4686300"/>
            <a:ext cx="426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 imposible rastrear si el problema se resolvió meses después.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6896100" y="415290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6962775" y="4152900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Habilita una discusión técnica ordenada.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6896100" y="46005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6962775" y="4600575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 puede etiquetar (ej.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enhancement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6896100" y="50482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6962775" y="5048250"/>
            <a:ext cx="426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Queda como bitácora histórica para el equipo (ej. "falla de datos del CENACE de 2023").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"Contrato" para Abrir un Issue</a:t>
            </a:r>
            <a:endParaRPr/>
          </a:p>
        </p:txBody>
      </p:sp>
      <p:sp>
        <p:nvSpPr>
          <p:cNvPr id="341" name="Google Shape;341;p32"/>
          <p:cNvSpPr txBox="1"/>
          <p:nvPr/>
        </p:nvSpPr>
        <p:spPr>
          <a:xfrm>
            <a:off x="1095375" y="2047875"/>
            <a:ext cx="1000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Llegar a la fase práctica diciendo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"no me corre"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 es aceptable. Un Issue perfecto requiere 4 elementos:</a:t>
            </a: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1571625" y="2590800"/>
            <a:ext cx="952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Objetivo: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¿Qué intentabas lograr o modelar?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(Ej. "Trataba de aplicar un remuestreo horario al pronóstico de carga.")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1571625" y="3438525"/>
            <a:ext cx="952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Expectativa: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¿Cuál era el resultado o la métrica esperada?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(Ej. "Esperaba un dataframe con 24 filas por día sin valores nulos.")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1571625" y="4286250"/>
            <a:ext cx="952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Realidad: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¿Qué sucedió exactamente?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(Es indispensable pegar el mensaje de error completo del traceback o adjuntar la gráfica anómala).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1571625" y="5133975"/>
            <a:ext cx="952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Ejemplo Mínimo Reproducible (MRE):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Provee un fragmento de código aislado y pequeñísimo junto con datos sintéticos para poder replicar el error de inmediato.</a:t>
            </a:r>
            <a:endParaRPr/>
          </a:p>
        </p:txBody>
      </p:sp>
      <p:pic>
        <p:nvPicPr>
          <p:cNvPr descr="image.png" id="346" name="Google Shape;3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" y="26050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375" y="34528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43005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5148262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25116"/>
            <a:ext cx="3429000" cy="3779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25116"/>
            <a:ext cx="3429000" cy="3779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125116"/>
            <a:ext cx="3429000" cy="377934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Ciclo de Vida de un Issue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1555908" y="3372891"/>
            <a:ext cx="1460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1. Reporte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857250" y="3877716"/>
            <a:ext cx="28575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En la pestaña "Issues" de GitHub, haces clic en "New Issue". Detallas el problema con tu MRE. GitHub le asignará un número identificador (ej. </a:t>
            </a:r>
            <a:r>
              <a:rPr b="1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#42</a:t>
            </a: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4785836" y="3372891"/>
            <a:ext cx="2620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2. Trabajo (Rama)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4667250" y="3877716"/>
            <a:ext cx="28575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Te asignas el Issue. Creas una rama específica en tu terminal: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switch -c fix-issue-42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Haces las correcciones necesarias en el modelo.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8930878" y="3372891"/>
            <a:ext cx="195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3. Resolución</a:t>
            </a:r>
            <a:endParaRPr/>
          </a:p>
        </p:txBody>
      </p:sp>
      <p:sp>
        <p:nvSpPr>
          <p:cNvPr id="363" name="Google Shape;363;p33"/>
          <p:cNvSpPr txBox="1"/>
          <p:nvPr/>
        </p:nvSpPr>
        <p:spPr>
          <a:xfrm>
            <a:off x="8477250" y="3877716"/>
            <a:ext cx="2857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Al hacer tu commit, usas la palabra clave "Fixes":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git commit -m "fix: corrige división por cero. Fixes #42"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Al subirlo, GitHub cerrará el ticket automáticamente.</a:t>
            </a:r>
            <a:endParaRPr/>
          </a:p>
        </p:txBody>
      </p:sp>
      <p:pic>
        <p:nvPicPr>
          <p:cNvPr descr="image.png" id="364" name="Google Shape;3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256326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5962" y="2563266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7875" y="2563266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 txBox="1"/>
          <p:nvPr/>
        </p:nvSpPr>
        <p:spPr>
          <a:xfrm>
            <a:off x="295275" y="2686942"/>
            <a:ext cx="1160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Tarea 1: Aplicando lo Aprendido</a:t>
            </a:r>
            <a:endParaRPr/>
          </a:p>
        </p:txBody>
      </p:sp>
      <p:sp>
        <p:nvSpPr>
          <p:cNvPr id="372" name="Google Shape;372;p34"/>
          <p:cNvSpPr/>
          <p:nvPr/>
        </p:nvSpPr>
        <p:spPr>
          <a:xfrm>
            <a:off x="5619750" y="3267967"/>
            <a:ext cx="952500" cy="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571500" y="360134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De Programación Procedimental a Nodos POO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54" y="2327416"/>
            <a:ext cx="5286375" cy="3831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49424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87720" y="76200"/>
            <a:ext cx="828079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5"/>
          <p:cNvSpPr txBox="1"/>
          <p:nvPr/>
        </p:nvSpPr>
        <p:spPr>
          <a:xfrm>
            <a:off x="571500" y="177849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Tarea 01</a:t>
            </a:r>
            <a:endParaRPr/>
          </a:p>
        </p:txBody>
      </p:sp>
      <p:sp>
        <p:nvSpPr>
          <p:cNvPr id="382" name="Google Shape;382;p35"/>
          <p:cNvSpPr txBox="1"/>
          <p:nvPr/>
        </p:nvSpPr>
        <p:spPr>
          <a:xfrm>
            <a:off x="571500" y="1349424"/>
            <a:ext cx="52863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Descarga el repo oficial de la clase (solo para obtener el archivo), copia el notebook 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tu propio repositorio personal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resuelve aplicando POO en una nueva rama.</a:t>
            </a:r>
            <a:endParaRPr/>
          </a:p>
        </p:txBody>
      </p:sp>
      <p:sp>
        <p:nvSpPr>
          <p:cNvPr id="383" name="Google Shape;383;p35"/>
          <p:cNvSpPr/>
          <p:nvPr/>
        </p:nvSpPr>
        <p:spPr>
          <a:xfrm>
            <a:off x="571500" y="6289774"/>
            <a:ext cx="2495700" cy="390600"/>
          </a:xfrm>
          <a:prstGeom prst="roundRect">
            <a:avLst>
              <a:gd fmla="val 19512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1019175" y="6385024"/>
            <a:ext cx="21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Ver Notebook de la Clase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762000" y="2464875"/>
            <a:ext cx="4901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1. Clona el repo de la clase (solo para descargar los archivos)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762000" y="2840831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762000" y="3167304"/>
            <a:ext cx="479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2. Copia el notebook a TU propio repositorio y ve a él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762000" y="3304082"/>
            <a:ext cx="4901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(Asumiendo que nombraste a tu repo </a:t>
            </a:r>
            <a:r>
              <a:rPr lang="en-US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mi_repo_pronosticos')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762000" y="3587353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762000" y="3960614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762000" y="4333875"/>
            <a:ext cx="479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3. Crea y cámbiate a la rama específica para tu tarea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762000" y="4520505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762000" y="4893775"/>
            <a:ext cx="524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4. Resuelve el Notebook en tu editor y guarda los cambios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762000" y="5080396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762000" y="5267027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762000" y="5607903"/>
            <a:ext cx="4835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5. Sube TU rama a TU repositorio en GitHub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762000" y="5826918"/>
            <a:ext cx="8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/>
          </a:p>
        </p:txBody>
      </p:sp>
      <p:pic>
        <p:nvPicPr>
          <p:cNvPr descr="image.png" id="398" name="Google Shape;39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40407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3175" y="1368474"/>
            <a:ext cx="5248276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/>
        </p:nvSpPr>
        <p:spPr>
          <a:xfrm>
            <a:off x="295275" y="2354609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571500" y="3507134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Recuerden la regla de oro: documenten sus problemas estructurados abriendo un </a:t>
            </a:r>
            <a:r>
              <a:rPr b="0" i="1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Issue</a:t>
            </a: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en el repositorio de GitHub aportando el MRE (Ejemplo Mínimo Reproducible).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