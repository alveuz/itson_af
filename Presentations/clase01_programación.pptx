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Inter"/>
      <p:regular r:id="rId28"/>
      <p:bold r:id="rId29"/>
      <p:italic r:id="rId30"/>
      <p:boldItalic r:id="rId31"/>
    </p:embeddedFont>
    <p:embeddedFont>
      <p:font typeface="Urbanist Medium"/>
      <p:regular r:id="rId32"/>
      <p:bold r:id="rId33"/>
      <p:italic r:id="rId34"/>
      <p:boldItalic r:id="rId35"/>
    </p:embeddedFont>
    <p:embeddedFont>
      <p:font typeface="Urbanist"/>
      <p:regular r:id="rId36"/>
      <p:bold r:id="rId37"/>
      <p:italic r:id="rId38"/>
      <p:boldItalic r:id="rId39"/>
    </p:embeddedFont>
    <p:embeddedFont>
      <p:font typeface="Urbanist ExtraBold"/>
      <p:bold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F8FB17-0682-4069-97D7-4BB4D8BFAC41}">
  <a:tblStyle styleId="{FDF8FB17-0682-4069-97D7-4BB4D8BFAC4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ExtraBold-bold.fntdata"/><Relationship Id="rId20" Type="http://schemas.openxmlformats.org/officeDocument/2006/relationships/slide" Target="slides/slide14.xml"/><Relationship Id="rId41" Type="http://schemas.openxmlformats.org/officeDocument/2006/relationships/font" Target="fonts/UrbanistExtraBold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Inter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33" Type="http://schemas.openxmlformats.org/officeDocument/2006/relationships/font" Target="fonts/UrbanistMedium-bold.fntdata"/><Relationship Id="rId10" Type="http://schemas.openxmlformats.org/officeDocument/2006/relationships/slide" Target="slides/slide4.xml"/><Relationship Id="rId32" Type="http://schemas.openxmlformats.org/officeDocument/2006/relationships/font" Target="fonts/UrbanistMedium-regular.fntdata"/><Relationship Id="rId13" Type="http://schemas.openxmlformats.org/officeDocument/2006/relationships/slide" Target="slides/slide7.xml"/><Relationship Id="rId35" Type="http://schemas.openxmlformats.org/officeDocument/2006/relationships/font" Target="fonts/UrbanistMedium-boldItalic.fntdata"/><Relationship Id="rId12" Type="http://schemas.openxmlformats.org/officeDocument/2006/relationships/slide" Target="slides/slide6.xml"/><Relationship Id="rId34" Type="http://schemas.openxmlformats.org/officeDocument/2006/relationships/font" Target="fonts/UrbanistMedium-italic.fntdata"/><Relationship Id="rId15" Type="http://schemas.openxmlformats.org/officeDocument/2006/relationships/slide" Target="slides/slide9.xml"/><Relationship Id="rId37" Type="http://schemas.openxmlformats.org/officeDocument/2006/relationships/font" Target="fonts/Urbanist-bold.fntdata"/><Relationship Id="rId14" Type="http://schemas.openxmlformats.org/officeDocument/2006/relationships/slide" Target="slides/slide8.xml"/><Relationship Id="rId36" Type="http://schemas.openxmlformats.org/officeDocument/2006/relationships/font" Target="fonts/Urbanist-regular.fntdata"/><Relationship Id="rId17" Type="http://schemas.openxmlformats.org/officeDocument/2006/relationships/slide" Target="slides/slide11.xml"/><Relationship Id="rId39" Type="http://schemas.openxmlformats.org/officeDocument/2006/relationships/font" Target="fonts/Urbanist-boldItalic.fntdata"/><Relationship Id="rId16" Type="http://schemas.openxmlformats.org/officeDocument/2006/relationships/slide" Target="slides/slide10.xml"/><Relationship Id="rId38" Type="http://schemas.openxmlformats.org/officeDocument/2006/relationships/font" Target="fonts/Urbanist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409a680aa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409a680aa6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409a680aa6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409a680aa6b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409a680aa6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409a680aa6b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409a680aa6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409a680aa6b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409a680aa6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409a680aa6b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409a680aa6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409a680aa6b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409a680aa6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409a680aa6b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409a680aa6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409a680aa6b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409a680aa6b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409a680aa6b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409a680aa6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409a680aa6b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27.png"/><Relationship Id="rId9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32.png"/><Relationship Id="rId7" Type="http://schemas.openxmlformats.org/officeDocument/2006/relationships/image" Target="../media/image22.png"/><Relationship Id="rId8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1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28.png"/><Relationship Id="rId9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image" Target="../media/image35.png"/><Relationship Id="rId7" Type="http://schemas.openxmlformats.org/officeDocument/2006/relationships/image" Target="../media/image37.png"/><Relationship Id="rId8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590948"/>
            <a:ext cx="11601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48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Módulo 1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Python Profesional para Pronóstico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4273691"/>
            <a:ext cx="7620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 "scripts" aislados a sistemas de ingeniería reproducibles y mantenibles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85975"/>
            <a:ext cx="3492549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85975"/>
            <a:ext cx="3492549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85975"/>
            <a:ext cx="3492549" cy="35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894237" y="3286125"/>
            <a:ext cx="284707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Reproducibilidad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3838575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Garantizar que el código funcione igual en cualquier entorno mediante gestión de dependencias.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4672537" y="3286125"/>
            <a:ext cx="284707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Mantenibilidad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740324" y="3838575"/>
            <a:ext cx="27114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Arquitectura modular (Object Oriented Programming) que permite escalar y cambiar modelos sin romper el sistema.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450836" y="3286125"/>
            <a:ext cx="284707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Colaboración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518624" y="3838575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Uso profesional de Git para trabajar en equipos multidisciplinarios con trazabilidad total.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9575" y="25146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29300" y="2514600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64749" y="2514600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Objetivos de Aprendizaje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315277" y="2447925"/>
            <a:ext cx="11561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EL PROBLEMA DEL "MEGA-SCRIPT"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90550" y="4371975"/>
            <a:ext cx="11010900" cy="381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2272754"/>
            <a:ext cx="5314950" cy="32459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272754"/>
            <a:ext cx="5314950" cy="324594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885825" y="2568029"/>
            <a:ext cx="496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CC0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ESTADO INICIAL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85825" y="3101429"/>
            <a:ext cx="47244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Imagina un script de 2,000 líneas para calcular la carga de una planta industrial. Todo vive en un solo archivo: constantes, fórmulas y datos.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581775" y="2568029"/>
            <a:ext cx="496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CC0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CONSECUENCIAS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581775" y="3101429"/>
            <a:ext cx="47244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Cualquier modificación mínima genera errores en cascada. Es como tener un tablero eléctrico sin etiquetas ni modularidad.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228725" y="4190047"/>
            <a:ext cx="38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1266825" y="4191000"/>
            <a:ext cx="4343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Rigidez:</a:t>
            </a: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Cambiar un cable implica revisar 50 funciones.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228725" y="4776727"/>
            <a:ext cx="38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266825" y="4777680"/>
            <a:ext cx="4343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Opacidad:</a:t>
            </a: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Difícil de leer por otros ingenieros.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81050" y="59055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EL ALGORITMO DE CÁLCULO ELÉCTRICO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90550" y="590550"/>
            <a:ext cx="76200" cy="552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781050" y="590550"/>
            <a:ext cx="4980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EL COSTO DE LA RIGIDEZ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590550" y="590550"/>
            <a:ext cx="76200" cy="11049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19050"/>
            <a:ext cx="60769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90550" y="3248025"/>
            <a:ext cx="4934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Programar sin objetos es como el cableado de la izquierda: funcional pero </a:t>
            </a:r>
            <a:r>
              <a:rPr b="1" i="0" lang="en-US" sz="165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imposible de mantener</a:t>
            </a: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90550" y="4253805"/>
            <a:ext cx="49341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La Programación Orientada a Objetos busca la estructura de la derecha: </a:t>
            </a:r>
            <a:r>
              <a:rPr b="1" i="0" lang="en-US" sz="165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módulos independientes</a:t>
            </a: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y bien definidos.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315277" y="2905125"/>
            <a:ext cx="11561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PENSAR EN COMPONENTES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590550" y="3914775"/>
            <a:ext cx="11010900" cy="381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4900" y="1752600"/>
            <a:ext cx="4286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1100" y="1828800"/>
            <a:ext cx="4133850" cy="413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6286500" y="2738437"/>
            <a:ext cx="558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LA CLASE ES EL DISEÑO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6286500" y="3167062"/>
            <a:ext cx="53151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En ingeniería, no fabricas sin un plano. La </a:t>
            </a:r>
            <a:r>
              <a:rPr b="1" i="0" lang="en-US" sz="165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Clase</a:t>
            </a: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es el plano técnico que define qué atributos (especificaciones) y qué métodos (funciones) tendrá un componente.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6286500" y="4256633"/>
            <a:ext cx="5315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Ejemplo:</a:t>
            </a: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La clase Motor define que todos tienen potencia y velocidad.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781050" y="59055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CLASE VS OBJETO: EL PLANO</a:t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590550" y="590550"/>
            <a:ext cx="76200" cy="552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212181"/>
            <a:ext cx="5314950" cy="336708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590550" y="2212181"/>
            <a:ext cx="558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DEL PLANO A LA FÁBRICA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590550" y="2640806"/>
            <a:ext cx="5315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Un </a:t>
            </a:r>
            <a:r>
              <a:rPr b="1" i="0" lang="en-US" sz="165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Objeto</a:t>
            </a: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es la instancia física. Es el motor real que instalas en la cinta transportadora.</a:t>
            </a:r>
            <a:endParaRPr/>
          </a:p>
        </p:txBody>
      </p:sp>
      <p:pic>
        <p:nvPicPr>
          <p:cNvPr descr="image.png" id="167" name="Google Shape;16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221706"/>
            <a:ext cx="5295900" cy="334803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933450" y="3436084"/>
            <a:ext cx="38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971550" y="3437036"/>
            <a:ext cx="4934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Puedes crear 100 motores (objetos) a partir del mismo plano (clase).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933450" y="4022764"/>
            <a:ext cx="38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971550" y="4023717"/>
            <a:ext cx="4934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Cada uno tiene su propio estado (un motor está ON, otro a 50Hz).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781050" y="59055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EL OBJETO: LA PIEZA REAL</a:t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590550" y="590550"/>
            <a:ext cx="76200" cy="552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1524000"/>
            <a:ext cx="3543300" cy="47434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4350" y="1524000"/>
            <a:ext cx="3543300" cy="47434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58150" y="1524000"/>
            <a:ext cx="3543300" cy="47434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18097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/>
        </p:nvSpPr>
        <p:spPr>
          <a:xfrm>
            <a:off x="876300" y="2381250"/>
            <a:ext cx="3120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ENCAPSULAMIENTO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876300" y="2809875"/>
            <a:ext cx="29718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Protección de datos internos. Nadie toca los engranajes directamente.</a:t>
            </a:r>
            <a:endParaRPr/>
          </a:p>
        </p:txBody>
      </p:sp>
      <p:pic>
        <p:nvPicPr>
          <p:cNvPr descr="image.png" id="185" name="Google Shape;18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0100" y="18097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4610100" y="2381250"/>
            <a:ext cx="3120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HERENCIA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4610100" y="2809875"/>
            <a:ext cx="29718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Reutilización de diseños base para crear versiones especializadas.</a:t>
            </a:r>
            <a:endParaRPr/>
          </a:p>
        </p:txBody>
      </p:sp>
      <p:pic>
        <p:nvPicPr>
          <p:cNvPr descr="image.png" id="188" name="Google Shape;188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43900" y="18097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>
            <a:off x="8343900" y="2381250"/>
            <a:ext cx="3120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POLIMORFISMO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8343900" y="2809875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Misma interfase para diferentes comportamientos técnicos.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781050" y="59055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ARQUITECTURA DEL SOFTWARE</a:t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590550" y="590550"/>
            <a:ext cx="76200" cy="552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781050" y="590550"/>
            <a:ext cx="4980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ENCAPSULAR: "CAJA NEGRA"</a:t>
            </a:r>
            <a:endParaRPr/>
          </a:p>
        </p:txBody>
      </p:sp>
      <p:sp>
        <p:nvSpPr>
          <p:cNvPr id="199" name="Google Shape;199;p22"/>
          <p:cNvSpPr/>
          <p:nvPr/>
        </p:nvSpPr>
        <p:spPr>
          <a:xfrm>
            <a:off x="590550" y="590550"/>
            <a:ext cx="76200" cy="11049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0" name="Google Shape;20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19050"/>
            <a:ext cx="2886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 txBox="1"/>
          <p:nvPr/>
        </p:nvSpPr>
        <p:spPr>
          <a:xfrm>
            <a:off x="590550" y="3248025"/>
            <a:ext cx="49341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Un ingeniero no necesita saber cómo funciona el silicio de un sensor para usarlo. Solo necesita saber que si le da voltaje, recibe una señal.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590550" y="4547145"/>
            <a:ext cx="4934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En POO, ocultamos la complejidad interna y solo exponemos </a:t>
            </a:r>
            <a:r>
              <a:rPr b="1" i="0" lang="en-US" sz="165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Interfaces de Control</a:t>
            </a: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id="203" name="Google Shape;203;p22"/>
          <p:cNvPicPr preferRelativeResize="0"/>
          <p:nvPr/>
        </p:nvPicPr>
        <p:blipFill rotWithShape="1">
          <a:blip r:embed="rId5">
            <a:alphaModFix/>
          </a:blip>
          <a:srcRect b="100191" l="130" r="179" t="100261"/>
          <a:stretch/>
        </p:blipFill>
        <p:spPr>
          <a:xfrm flipH="1" rot="10800000">
            <a:off x="6948250" y="1082850"/>
            <a:ext cx="4455450" cy="448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67012"/>
            <a:ext cx="5314950" cy="225727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 txBox="1"/>
          <p:nvPr/>
        </p:nvSpPr>
        <p:spPr>
          <a:xfrm>
            <a:off x="590550" y="2767012"/>
            <a:ext cx="558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JERARQUÍAS TÉCNICAS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590550" y="3195637"/>
            <a:ext cx="5315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Todos son "Aparatos Eléctricos" (Clase Base), pero un Refrigerador es diferente a un Horno.</a:t>
            </a:r>
            <a:endParaRPr/>
          </a:p>
        </p:txBody>
      </p:sp>
      <p:pic>
        <p:nvPicPr>
          <p:cNvPr descr="image.png" id="212" name="Google Shape;21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776537"/>
            <a:ext cx="5295900" cy="223822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 txBox="1"/>
          <p:nvPr/>
        </p:nvSpPr>
        <p:spPr>
          <a:xfrm>
            <a:off x="933450" y="3990915"/>
            <a:ext cx="38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971550" y="3991867"/>
            <a:ext cx="4934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Clase Base:</a:t>
            </a: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Voltaje, Consumo.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933450" y="4284255"/>
            <a:ext cx="38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971550" y="4285208"/>
            <a:ext cx="4934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Especialización:</a:t>
            </a: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 El Refrigerador hereda el voltaje, pero añade "Temperatura".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781050" y="59055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HERENCIA: FAMILIAS DE DISEÑO</a:t>
            </a:r>
            <a:endParaRPr/>
          </a:p>
        </p:txBody>
      </p:sp>
      <p:sp>
        <p:nvSpPr>
          <p:cNvPr id="218" name="Google Shape;218;p23"/>
          <p:cNvSpPr/>
          <p:nvPr/>
        </p:nvSpPr>
        <p:spPr>
          <a:xfrm>
            <a:off x="590550" y="590550"/>
            <a:ext cx="76200" cy="552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4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1524000"/>
            <a:ext cx="5314950" cy="5353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24000"/>
            <a:ext cx="5314950" cy="535304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4"/>
          <p:cNvSpPr txBox="1"/>
          <p:nvPr/>
        </p:nvSpPr>
        <p:spPr>
          <a:xfrm>
            <a:off x="885825" y="1819275"/>
            <a:ext cx="496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CC0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INTERFASE UNIVERSAL</a:t>
            </a:r>
            <a:endParaRPr/>
          </a:p>
        </p:txBody>
      </p:sp>
      <p:sp>
        <p:nvSpPr>
          <p:cNvPr id="227" name="Google Shape;227;p24"/>
          <p:cNvSpPr txBox="1"/>
          <p:nvPr/>
        </p:nvSpPr>
        <p:spPr>
          <a:xfrm>
            <a:off x="885825" y="2352675"/>
            <a:ext cx="47244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Imagina un enchufe universal. No importa si conectas una lámpara o un taladro, ambos "saben" cómo consumir energía.</a:t>
            </a:r>
            <a:endParaRPr/>
          </a:p>
        </p:txBody>
      </p:sp>
      <p:sp>
        <p:nvSpPr>
          <p:cNvPr id="228" name="Google Shape;228;p24"/>
          <p:cNvSpPr txBox="1"/>
          <p:nvPr/>
        </p:nvSpPr>
        <p:spPr>
          <a:xfrm>
            <a:off x="885825" y="3442245"/>
            <a:ext cx="47244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0B0"/>
                </a:solidFill>
                <a:latin typeface="Urbanist"/>
                <a:ea typeface="Urbanist"/>
                <a:cs typeface="Urbanist"/>
                <a:sym typeface="Urbanist"/>
              </a:rPr>
              <a:t>El código le dice al objeto calcular_consumo(), y cada objeto lo hace a su manera sin que el sistema principal sepa los detalles.</a:t>
            </a:r>
            <a:endParaRPr/>
          </a:p>
        </p:txBody>
      </p:sp>
      <p:pic>
        <p:nvPicPr>
          <p:cNvPr descr="image.png" id="229" name="Google Shape;22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1819275"/>
            <a:ext cx="47244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4"/>
          <p:cNvSpPr txBox="1"/>
          <p:nvPr/>
        </p:nvSpPr>
        <p:spPr>
          <a:xfrm>
            <a:off x="781050" y="59055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POLIMORFISMO: EL ESTÁNDAR</a:t>
            </a:r>
            <a:endParaRPr/>
          </a:p>
        </p:txBody>
      </p:sp>
      <p:sp>
        <p:nvSpPr>
          <p:cNvPr id="231" name="Google Shape;231;p24"/>
          <p:cNvSpPr/>
          <p:nvPr/>
        </p:nvSpPr>
        <p:spPr>
          <a:xfrm>
            <a:off x="590550" y="590550"/>
            <a:ext cx="76200" cy="552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5"/>
          <p:cNvSpPr/>
          <p:nvPr/>
        </p:nvSpPr>
        <p:spPr>
          <a:xfrm>
            <a:off x="5715000" y="2860327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 txBox="1"/>
          <p:nvPr/>
        </p:nvSpPr>
        <p:spPr>
          <a:xfrm>
            <a:off x="295275" y="3184177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Parte 1: Ingeniería de Software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738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6691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6"/>
          <p:cNvSpPr txBox="1"/>
          <p:nvPr/>
        </p:nvSpPr>
        <p:spPr>
          <a:xfrm>
            <a:off x="952500" y="233838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Entorno Profesional: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VS Code, Python 3.10+ y entornos virtuales (venv/conda).</a:t>
            </a:r>
            <a:endParaRPr/>
          </a:p>
        </p:txBody>
      </p:sp>
      <p:sp>
        <p:nvSpPr>
          <p:cNvPr id="247" name="Google Shape;247;p26"/>
          <p:cNvSpPr txBox="1"/>
          <p:nvPr/>
        </p:nvSpPr>
        <p:spPr>
          <a:xfrm>
            <a:off x="952500" y="313848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PEP 8: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El lenguaje visual del código. Nomenclatura y estructura limpia.</a:t>
            </a:r>
            <a:endParaRPr/>
          </a:p>
        </p:txBody>
      </p:sp>
      <p:sp>
        <p:nvSpPr>
          <p:cNvPr id="248" name="Google Shape;248;p26"/>
          <p:cNvSpPr txBox="1"/>
          <p:nvPr/>
        </p:nvSpPr>
        <p:spPr>
          <a:xfrm>
            <a:off x="952500" y="393858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Documentación: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Docstrings técnicos y Type Hinting para evitar bugs lógicos.</a:t>
            </a:r>
            <a:endParaRPr/>
          </a:p>
        </p:txBody>
      </p:sp>
      <p:sp>
        <p:nvSpPr>
          <p:cNvPr id="249" name="Google Shape;249;p26"/>
          <p:cNvSpPr txBox="1"/>
          <p:nvPr/>
        </p:nvSpPr>
        <p:spPr>
          <a:xfrm>
            <a:off x="952500" y="473868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Reproducibilidad: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El archivo requirements.txt como contrato de ingeniería.</a:t>
            </a:r>
            <a:endParaRPr/>
          </a:p>
        </p:txBody>
      </p:sp>
      <p:pic>
        <p:nvPicPr>
          <p:cNvPr descr="image.png" id="250" name="Google Shape;25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3764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765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766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7678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Calidad y Entorno de Desarrollo</a:t>
            </a:r>
            <a:endParaRPr/>
          </a:p>
        </p:txBody>
      </p:sp>
      <p:sp>
        <p:nvSpPr>
          <p:cNvPr id="255" name="Google Shape;255;p26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7"/>
          <p:cNvSpPr/>
          <p:nvPr/>
        </p:nvSpPr>
        <p:spPr>
          <a:xfrm>
            <a:off x="5715000" y="2860327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7"/>
          <p:cNvSpPr txBox="1"/>
          <p:nvPr/>
        </p:nvSpPr>
        <p:spPr>
          <a:xfrm>
            <a:off x="295275" y="3184177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Parte 2: Arquitectura (OOP)</a:t>
            </a:r>
            <a:endParaRPr/>
          </a:p>
        </p:txBody>
      </p:sp>
      <p:sp>
        <p:nvSpPr>
          <p:cNvPr id="263" name="Google Shape;263;p27"/>
          <p:cNvSpPr txBox="1"/>
          <p:nvPr/>
        </p:nvSpPr>
        <p:spPr>
          <a:xfrm>
            <a:off x="2286000" y="3917602"/>
            <a:ext cx="7620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Diseño de sistemas de pronóstico modulares (2.5-3 Horas)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738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96691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8"/>
          <p:cNvSpPr txBox="1"/>
          <p:nvPr/>
        </p:nvSpPr>
        <p:spPr>
          <a:xfrm>
            <a:off x="6381750" y="2005012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Separación de Responsabilidades</a:t>
            </a:r>
            <a:endParaRPr/>
          </a:p>
        </p:txBody>
      </p:sp>
      <p:sp>
        <p:nvSpPr>
          <p:cNvPr id="272" name="Google Shape;272;p28"/>
          <p:cNvSpPr txBox="1"/>
          <p:nvPr/>
        </p:nvSpPr>
        <p:spPr>
          <a:xfrm>
            <a:off x="6762750" y="2519362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DataProvider: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Abstracción de la carga de datos eléctricos (SQL/CSV).</a:t>
            </a:r>
            <a:endParaRPr/>
          </a:p>
        </p:txBody>
      </p:sp>
      <p:sp>
        <p:nvSpPr>
          <p:cNvPr id="273" name="Google Shape;273;p28"/>
          <p:cNvSpPr txBox="1"/>
          <p:nvPr/>
        </p:nvSpPr>
        <p:spPr>
          <a:xfrm>
            <a:off x="6762750" y="3319462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FeatureEngineer: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Lógica de lags, medias móviles y estacionalidad.</a:t>
            </a:r>
            <a:endParaRPr/>
          </a:p>
        </p:txBody>
      </p:sp>
      <p:sp>
        <p:nvSpPr>
          <p:cNvPr id="274" name="Google Shape;274;p28"/>
          <p:cNvSpPr txBox="1"/>
          <p:nvPr/>
        </p:nvSpPr>
        <p:spPr>
          <a:xfrm>
            <a:off x="6762750" y="4119562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ModelWrapper: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Interfaz común para Scikit-Learn o Statsmodels.</a:t>
            </a:r>
            <a:endParaRPr/>
          </a:p>
        </p:txBody>
      </p:sp>
      <p:sp>
        <p:nvSpPr>
          <p:cNvPr id="275" name="Google Shape;275;p28"/>
          <p:cNvSpPr txBox="1"/>
          <p:nvPr/>
        </p:nvSpPr>
        <p:spPr>
          <a:xfrm>
            <a:off x="6762750" y="4919662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Evaluator: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Métricas de error (MAE, RMSE) centralizadas.</a:t>
            </a:r>
            <a:endParaRPr/>
          </a:p>
        </p:txBody>
      </p:sp>
      <p:pic>
        <p:nvPicPr>
          <p:cNvPr descr="image.png" id="276" name="Google Shape;27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5574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335756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41576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81750" y="495776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8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Diseño Orientado a Objetos (OOP)</a:t>
            </a:r>
            <a:endParaRPr/>
          </a:p>
        </p:txBody>
      </p:sp>
      <p:sp>
        <p:nvSpPr>
          <p:cNvPr id="281" name="Google Shape;281;p28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6" name="Google Shape;28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38275"/>
            <a:ext cx="1104900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9"/>
          <p:cNvSpPr txBox="1"/>
          <p:nvPr/>
        </p:nvSpPr>
        <p:spPr>
          <a:xfrm>
            <a:off x="571500" y="4710112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"Lo que hoy parece tiempo extra de programación, mañana es ahorro en mantenimiento."</a:t>
            </a:r>
            <a:endParaRPr/>
          </a:p>
        </p:txBody>
      </p:sp>
      <p:sp>
        <p:nvSpPr>
          <p:cNvPr id="289" name="Google Shape;289;p29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Inversión vs. Retorno de Ingeniería</a:t>
            </a:r>
            <a:endParaRPr/>
          </a:p>
        </p:txBody>
      </p:sp>
      <p:sp>
        <p:nvSpPr>
          <p:cNvPr id="290" name="Google Shape;290;p29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5" name="Google Shape;29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0"/>
          <p:cNvSpPr/>
          <p:nvPr/>
        </p:nvSpPr>
        <p:spPr>
          <a:xfrm>
            <a:off x="5715000" y="2860327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0"/>
          <p:cNvSpPr txBox="1"/>
          <p:nvPr/>
        </p:nvSpPr>
        <p:spPr>
          <a:xfrm>
            <a:off x="295275" y="3184177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Parte 3: Git y Trabajo en Equipo</a:t>
            </a:r>
            <a:endParaRPr/>
          </a:p>
        </p:txBody>
      </p:sp>
      <p:sp>
        <p:nvSpPr>
          <p:cNvPr id="298" name="Google Shape;298;p30"/>
          <p:cNvSpPr txBox="1"/>
          <p:nvPr/>
        </p:nvSpPr>
        <p:spPr>
          <a:xfrm>
            <a:off x="2286000" y="3917602"/>
            <a:ext cx="7620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Control de versiones para ingeniería real (1.5-2 Horas)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1"/>
          <p:cNvSpPr/>
          <p:nvPr/>
        </p:nvSpPr>
        <p:spPr>
          <a:xfrm>
            <a:off x="571500" y="3790950"/>
            <a:ext cx="1104900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1"/>
          <p:cNvSpPr/>
          <p:nvPr/>
        </p:nvSpPr>
        <p:spPr>
          <a:xfrm>
            <a:off x="1691580" y="40052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1"/>
          <p:cNvSpPr txBox="1"/>
          <p:nvPr/>
        </p:nvSpPr>
        <p:spPr>
          <a:xfrm>
            <a:off x="510733" y="3124200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Atomic Commits</a:t>
            </a:r>
            <a:endParaRPr/>
          </a:p>
        </p:txBody>
      </p:sp>
      <p:sp>
        <p:nvSpPr>
          <p:cNvPr id="307" name="Google Shape;307;p31"/>
          <p:cNvSpPr txBox="1"/>
          <p:nvPr/>
        </p:nvSpPr>
        <p:spPr>
          <a:xfrm>
            <a:off x="571500" y="3971925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Historial legible de cambios técnicos significativos.</a:t>
            </a:r>
            <a:endParaRPr/>
          </a:p>
        </p:txBody>
      </p:sp>
      <p:sp>
        <p:nvSpPr>
          <p:cNvPr id="308" name="Google Shape;308;p31"/>
          <p:cNvSpPr/>
          <p:nvPr/>
        </p:nvSpPr>
        <p:spPr>
          <a:xfrm>
            <a:off x="4564260" y="40052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1"/>
          <p:cNvSpPr txBox="1"/>
          <p:nvPr/>
        </p:nvSpPr>
        <p:spPr>
          <a:xfrm>
            <a:off x="3383413" y="3124200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Feature Branches</a:t>
            </a:r>
            <a:endParaRPr/>
          </a:p>
        </p:txBody>
      </p:sp>
      <p:sp>
        <p:nvSpPr>
          <p:cNvPr id="310" name="Google Shape;310;p31"/>
          <p:cNvSpPr txBox="1"/>
          <p:nvPr/>
        </p:nvSpPr>
        <p:spPr>
          <a:xfrm>
            <a:off x="3444180" y="3971925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Experimentación aislada sin romper el modelo principal.</a:t>
            </a:r>
            <a:endParaRPr/>
          </a:p>
        </p:txBody>
      </p:sp>
      <p:sp>
        <p:nvSpPr>
          <p:cNvPr id="311" name="Google Shape;311;p31"/>
          <p:cNvSpPr/>
          <p:nvPr/>
        </p:nvSpPr>
        <p:spPr>
          <a:xfrm>
            <a:off x="7436941" y="40052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1"/>
          <p:cNvSpPr txBox="1"/>
          <p:nvPr/>
        </p:nvSpPr>
        <p:spPr>
          <a:xfrm>
            <a:off x="6256094" y="3124200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Pull Requests</a:t>
            </a:r>
            <a:endParaRPr/>
          </a:p>
        </p:txBody>
      </p:sp>
      <p:sp>
        <p:nvSpPr>
          <p:cNvPr id="313" name="Google Shape;313;p31"/>
          <p:cNvSpPr txBox="1"/>
          <p:nvPr/>
        </p:nvSpPr>
        <p:spPr>
          <a:xfrm>
            <a:off x="6316860" y="3971925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Revisión técnica de pares antes de integrar a producción.</a:t>
            </a:r>
            <a:endParaRPr/>
          </a:p>
        </p:txBody>
      </p:sp>
      <p:sp>
        <p:nvSpPr>
          <p:cNvPr id="314" name="Google Shape;314;p31"/>
          <p:cNvSpPr/>
          <p:nvPr/>
        </p:nvSpPr>
        <p:spPr>
          <a:xfrm>
            <a:off x="10309621" y="40052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9128774" y="3124200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Main Repo</a:t>
            </a:r>
            <a:endParaRPr/>
          </a:p>
        </p:txBody>
      </p:sp>
      <p:sp>
        <p:nvSpPr>
          <p:cNvPr id="316" name="Google Shape;316;p31"/>
          <p:cNvSpPr txBox="1"/>
          <p:nvPr/>
        </p:nvSpPr>
        <p:spPr>
          <a:xfrm>
            <a:off x="9189541" y="3971925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Versión de oro lista para el despliegue operativo.</a:t>
            </a:r>
            <a:endParaRPr/>
          </a:p>
        </p:txBody>
      </p:sp>
      <p:sp>
        <p:nvSpPr>
          <p:cNvPr id="317" name="Google Shape;317;p31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Ciclo de Vida de Colaboración</a:t>
            </a:r>
            <a:endParaRPr/>
          </a:p>
        </p:txBody>
      </p:sp>
      <p:sp>
        <p:nvSpPr>
          <p:cNvPr id="318" name="Google Shape;318;p31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3" name="Google Shape;32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4" name="Google Shape;324;p32"/>
          <p:cNvGraphicFramePr/>
          <p:nvPr/>
        </p:nvGraphicFramePr>
        <p:xfrm>
          <a:off x="571500" y="25765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{FDF8FB17-0682-4069-97D7-4BB4D8BFAC41}</a:tableStyleId>
              </a:tblPr>
              <a:tblGrid>
                <a:gridCol w="1402400"/>
                <a:gridCol w="2907500"/>
                <a:gridCol w="6739075"/>
              </a:tblGrid>
              <a:tr h="6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Sesión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Foco Técnico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Producto Tangible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6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Sesión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Ingeniería de Software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Entorno configurado y scripts con estándar PEP 8.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Sesión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OOP &amp; Arquitectura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Lógica de pronóstico encapsulada en clases reutilizables.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Sesión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Git &amp; Repo Final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Repositorio GitHub con README y estructura estándar.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5" name="Google Shape;325;p32"/>
          <p:cNvSpPr/>
          <p:nvPr/>
        </p:nvSpPr>
        <p:spPr>
          <a:xfrm>
            <a:off x="571500" y="3943350"/>
            <a:ext cx="140240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2"/>
          <p:cNvSpPr/>
          <p:nvPr/>
        </p:nvSpPr>
        <p:spPr>
          <a:xfrm>
            <a:off x="1973907" y="3943350"/>
            <a:ext cx="290750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2"/>
          <p:cNvSpPr/>
          <p:nvPr/>
        </p:nvSpPr>
        <p:spPr>
          <a:xfrm>
            <a:off x="4881413" y="3943350"/>
            <a:ext cx="673908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2"/>
          <p:cNvSpPr/>
          <p:nvPr/>
        </p:nvSpPr>
        <p:spPr>
          <a:xfrm>
            <a:off x="571500" y="4638675"/>
            <a:ext cx="1402407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2"/>
          <p:cNvSpPr/>
          <p:nvPr/>
        </p:nvSpPr>
        <p:spPr>
          <a:xfrm>
            <a:off x="1973907" y="4638675"/>
            <a:ext cx="290750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2"/>
          <p:cNvSpPr/>
          <p:nvPr/>
        </p:nvSpPr>
        <p:spPr>
          <a:xfrm>
            <a:off x="4881413" y="4638675"/>
            <a:ext cx="673908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2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Entregables por Sesión</a:t>
            </a:r>
            <a:endParaRPr/>
          </a:p>
        </p:txBody>
      </p:sp>
      <p:sp>
        <p:nvSpPr>
          <p:cNvPr id="332" name="Google Shape;332;p32"/>
          <p:cNvSpPr/>
          <p:nvPr/>
        </p:nvSpPr>
        <p:spPr>
          <a:xfrm>
            <a:off x="571500" y="571500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7" name="Google Shape;33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/>
        </p:nvSpPr>
        <p:spPr>
          <a:xfrm>
            <a:off x="295275" y="2163216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¿Dudas?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